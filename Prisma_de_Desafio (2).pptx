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7219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28600" y="285750"/>
            <a:ext cx="8686800" cy="510778"/>
          </a:xfrm>
          <a:prstGeom prst="rect">
            <a:avLst/>
          </a:prstGeom>
          <a:solidFill>
            <a:srgbClr val="000000">
              <a:alpha val="0"/>
            </a:srgbClr>
          </a:solidFill>
          <a:ln w="18288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228600" y="285750"/>
            <a:ext cx="8686800" cy="51077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8" b="1" kern="0" spc="2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PRISMA DE DESAFIO</a:t>
            </a:r>
            <a:endParaRPr lang="en-US" sz="1808" dirty="0"/>
          </a:p>
        </p:txBody>
      </p:sp>
      <p:sp>
        <p:nvSpPr>
          <p:cNvPr id="5" name="Shape 2"/>
          <p:cNvSpPr/>
          <p:nvPr/>
        </p:nvSpPr>
        <p:spPr>
          <a:xfrm>
            <a:off x="250031" y="917972"/>
            <a:ext cx="8643938" cy="32504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250031" y="917972"/>
            <a:ext cx="8643938" cy="325041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PODEMOS</a:t>
            </a:r>
            <a:endParaRPr lang="en-US" sz="1090" dirty="0"/>
          </a:p>
        </p:txBody>
      </p:sp>
      <p:sp>
        <p:nvSpPr>
          <p:cNvPr id="7" name="Text 4"/>
          <p:cNvSpPr/>
          <p:nvPr/>
        </p:nvSpPr>
        <p:spPr>
          <a:xfrm>
            <a:off x="250031" y="1243013"/>
            <a:ext cx="8643938" cy="765777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podemos otimizar a identificação de vagas disponíveis em estacionamentos abertos de forma acessível, autônoma e escalável, reduzindo o tempo de busca e o congestionamento urbano?</a:t>
            </a:r>
            <a:endParaRPr lang="en-US" sz="1193" dirty="0"/>
          </a:p>
        </p:txBody>
      </p:sp>
      <p:sp>
        <p:nvSpPr>
          <p:cNvPr id="8" name="Shape 5"/>
          <p:cNvSpPr/>
          <p:nvPr/>
        </p:nvSpPr>
        <p:spPr>
          <a:xfrm>
            <a:off x="228600" y="2137377"/>
            <a:ext cx="2091333" cy="2647150"/>
          </a:xfrm>
          <a:prstGeom prst="rect">
            <a:avLst/>
          </a:prstGeom>
          <a:solidFill>
            <a:srgbClr val="F8FAFC"/>
          </a:solidFill>
          <a:ln w="18288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228600" y="2137377"/>
            <a:ext cx="2091333" cy="32504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228600" y="2137377"/>
            <a:ext cx="2091333" cy="325041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VERBO DA AÇÃO</a:t>
            </a:r>
            <a:endParaRPr lang="en-US" sz="1090" dirty="0"/>
          </a:p>
        </p:txBody>
      </p:sp>
      <p:sp>
        <p:nvSpPr>
          <p:cNvPr id="11" name="Text 8"/>
          <p:cNvSpPr/>
          <p:nvPr/>
        </p:nvSpPr>
        <p:spPr>
          <a:xfrm>
            <a:off x="335756" y="2569573"/>
            <a:ext cx="1877020" cy="176445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36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Monitorar</a:t>
            </a:r>
            <a:endParaRPr lang="en-US" sz="936" dirty="0"/>
          </a:p>
        </p:txBody>
      </p:sp>
      <p:sp>
        <p:nvSpPr>
          <p:cNvPr id="12" name="Text 9"/>
          <p:cNvSpPr/>
          <p:nvPr/>
        </p:nvSpPr>
        <p:spPr>
          <a:xfrm>
            <a:off x="335756" y="2831743"/>
            <a:ext cx="1877020" cy="176445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36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Detectar</a:t>
            </a:r>
            <a:endParaRPr lang="en-US" sz="936" dirty="0"/>
          </a:p>
        </p:txBody>
      </p:sp>
      <p:sp>
        <p:nvSpPr>
          <p:cNvPr id="13" name="Text 10"/>
          <p:cNvSpPr/>
          <p:nvPr/>
        </p:nvSpPr>
        <p:spPr>
          <a:xfrm>
            <a:off x="335756" y="3093913"/>
            <a:ext cx="1877020" cy="176445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36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Identificar</a:t>
            </a:r>
            <a:endParaRPr lang="en-US" sz="936" dirty="0"/>
          </a:p>
        </p:txBody>
      </p:sp>
      <p:sp>
        <p:nvSpPr>
          <p:cNvPr id="14" name="Text 11"/>
          <p:cNvSpPr/>
          <p:nvPr/>
        </p:nvSpPr>
        <p:spPr>
          <a:xfrm>
            <a:off x="335756" y="3356084"/>
            <a:ext cx="1877020" cy="176445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36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Informar</a:t>
            </a:r>
            <a:endParaRPr lang="en-US" sz="936" dirty="0"/>
          </a:p>
        </p:txBody>
      </p:sp>
      <p:sp>
        <p:nvSpPr>
          <p:cNvPr id="15" name="Text 12"/>
          <p:cNvSpPr/>
          <p:nvPr/>
        </p:nvSpPr>
        <p:spPr>
          <a:xfrm>
            <a:off x="335756" y="3618254"/>
            <a:ext cx="1877020" cy="176445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36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Otimizar</a:t>
            </a:r>
            <a:endParaRPr lang="en-US" sz="936" dirty="0"/>
          </a:p>
        </p:txBody>
      </p:sp>
      <p:sp>
        <p:nvSpPr>
          <p:cNvPr id="16" name="Text 13"/>
          <p:cNvSpPr/>
          <p:nvPr/>
        </p:nvSpPr>
        <p:spPr>
          <a:xfrm>
            <a:off x="335756" y="3880424"/>
            <a:ext cx="1877020" cy="176445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36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Reduzir</a:t>
            </a:r>
            <a:endParaRPr lang="en-US" sz="936" dirty="0"/>
          </a:p>
        </p:txBody>
      </p:sp>
      <p:sp>
        <p:nvSpPr>
          <p:cNvPr id="17" name="Shape 14"/>
          <p:cNvSpPr/>
          <p:nvPr/>
        </p:nvSpPr>
        <p:spPr>
          <a:xfrm>
            <a:off x="2427089" y="2137377"/>
            <a:ext cx="2091333" cy="2647150"/>
          </a:xfrm>
          <a:prstGeom prst="rect">
            <a:avLst/>
          </a:prstGeom>
          <a:solidFill>
            <a:srgbClr val="F8FAFC"/>
          </a:solidFill>
          <a:ln w="18288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335756" y="2569573"/>
            <a:ext cx="47495" cy="1764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36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936" dirty="0"/>
          </a:p>
        </p:txBody>
      </p:sp>
      <p:sp>
        <p:nvSpPr>
          <p:cNvPr id="19" name="Text 16"/>
          <p:cNvSpPr/>
          <p:nvPr/>
        </p:nvSpPr>
        <p:spPr>
          <a:xfrm>
            <a:off x="335756" y="2831743"/>
            <a:ext cx="47495" cy="1764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36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936" dirty="0"/>
          </a:p>
        </p:txBody>
      </p:sp>
      <p:sp>
        <p:nvSpPr>
          <p:cNvPr id="20" name="Text 17"/>
          <p:cNvSpPr/>
          <p:nvPr/>
        </p:nvSpPr>
        <p:spPr>
          <a:xfrm>
            <a:off x="335756" y="3093913"/>
            <a:ext cx="47495" cy="1764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36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936" dirty="0"/>
          </a:p>
        </p:txBody>
      </p:sp>
      <p:sp>
        <p:nvSpPr>
          <p:cNvPr id="21" name="Text 18"/>
          <p:cNvSpPr/>
          <p:nvPr/>
        </p:nvSpPr>
        <p:spPr>
          <a:xfrm>
            <a:off x="335756" y="3356084"/>
            <a:ext cx="47495" cy="1764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36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936" dirty="0"/>
          </a:p>
        </p:txBody>
      </p:sp>
      <p:sp>
        <p:nvSpPr>
          <p:cNvPr id="22" name="Text 19"/>
          <p:cNvSpPr/>
          <p:nvPr/>
        </p:nvSpPr>
        <p:spPr>
          <a:xfrm>
            <a:off x="335756" y="3618254"/>
            <a:ext cx="47495" cy="1764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36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936" dirty="0"/>
          </a:p>
        </p:txBody>
      </p:sp>
      <p:sp>
        <p:nvSpPr>
          <p:cNvPr id="23" name="Text 20"/>
          <p:cNvSpPr/>
          <p:nvPr/>
        </p:nvSpPr>
        <p:spPr>
          <a:xfrm>
            <a:off x="335756" y="3880424"/>
            <a:ext cx="47495" cy="1764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36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936" dirty="0"/>
          </a:p>
        </p:txBody>
      </p:sp>
      <p:sp>
        <p:nvSpPr>
          <p:cNvPr id="24" name="Shape 21"/>
          <p:cNvSpPr/>
          <p:nvPr/>
        </p:nvSpPr>
        <p:spPr>
          <a:xfrm>
            <a:off x="2427089" y="2137377"/>
            <a:ext cx="2091333" cy="32504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2"/>
          <p:cNvSpPr/>
          <p:nvPr/>
        </p:nvSpPr>
        <p:spPr>
          <a:xfrm>
            <a:off x="2427089" y="2137377"/>
            <a:ext cx="2091333" cy="325041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</a:t>
            </a:r>
            <a:endParaRPr lang="en-US" sz="1090" dirty="0"/>
          </a:p>
        </p:txBody>
      </p:sp>
      <p:sp>
        <p:nvSpPr>
          <p:cNvPr id="26" name="Text 23"/>
          <p:cNvSpPr/>
          <p:nvPr/>
        </p:nvSpPr>
        <p:spPr>
          <a:xfrm>
            <a:off x="2534245" y="2569573"/>
            <a:ext cx="1877020" cy="176445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36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Estacionamentos abertos</a:t>
            </a:r>
            <a:endParaRPr lang="en-US" sz="936" dirty="0"/>
          </a:p>
        </p:txBody>
      </p:sp>
      <p:sp>
        <p:nvSpPr>
          <p:cNvPr id="27" name="Text 24"/>
          <p:cNvSpPr/>
          <p:nvPr/>
        </p:nvSpPr>
        <p:spPr>
          <a:xfrm>
            <a:off x="2534245" y="2831743"/>
            <a:ext cx="1877020" cy="176445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36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Falta de visibilidade real</a:t>
            </a:r>
            <a:endParaRPr lang="en-US" sz="936" dirty="0"/>
          </a:p>
        </p:txBody>
      </p:sp>
      <p:sp>
        <p:nvSpPr>
          <p:cNvPr id="28" name="Text 25"/>
          <p:cNvSpPr/>
          <p:nvPr/>
        </p:nvSpPr>
        <p:spPr>
          <a:xfrm>
            <a:off x="2534245" y="3093913"/>
            <a:ext cx="1877020" cy="176445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36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 tempo de procura</a:t>
            </a:r>
            <a:endParaRPr lang="en-US" sz="936" dirty="0"/>
          </a:p>
        </p:txBody>
      </p:sp>
      <p:sp>
        <p:nvSpPr>
          <p:cNvPr id="29" name="Text 26"/>
          <p:cNvSpPr/>
          <p:nvPr/>
        </p:nvSpPr>
        <p:spPr>
          <a:xfrm>
            <a:off x="2534245" y="3356084"/>
            <a:ext cx="1877020" cy="176445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36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Cities</a:t>
            </a:r>
            <a:endParaRPr lang="en-US" sz="936" dirty="0"/>
          </a:p>
        </p:txBody>
      </p:sp>
      <p:sp>
        <p:nvSpPr>
          <p:cNvPr id="30" name="Text 27"/>
          <p:cNvSpPr/>
          <p:nvPr/>
        </p:nvSpPr>
        <p:spPr>
          <a:xfrm>
            <a:off x="2534245" y="3618254"/>
            <a:ext cx="1877020" cy="176445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36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Infraestrutura limitada</a:t>
            </a:r>
            <a:endParaRPr lang="en-US" sz="936" dirty="0"/>
          </a:p>
        </p:txBody>
      </p:sp>
      <p:sp>
        <p:nvSpPr>
          <p:cNvPr id="31" name="Text 28"/>
          <p:cNvSpPr/>
          <p:nvPr/>
        </p:nvSpPr>
        <p:spPr>
          <a:xfrm>
            <a:off x="2534245" y="3880424"/>
            <a:ext cx="1877020" cy="176445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36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 custo atual</a:t>
            </a:r>
            <a:endParaRPr lang="en-US" sz="936" dirty="0"/>
          </a:p>
        </p:txBody>
      </p:sp>
      <p:sp>
        <p:nvSpPr>
          <p:cNvPr id="32" name="Shape 29"/>
          <p:cNvSpPr/>
          <p:nvPr/>
        </p:nvSpPr>
        <p:spPr>
          <a:xfrm>
            <a:off x="4625578" y="2137377"/>
            <a:ext cx="2091333" cy="2647150"/>
          </a:xfrm>
          <a:prstGeom prst="rect">
            <a:avLst/>
          </a:prstGeom>
          <a:solidFill>
            <a:srgbClr val="F8FAFC"/>
          </a:solidFill>
          <a:ln w="18288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0"/>
          <p:cNvSpPr/>
          <p:nvPr/>
        </p:nvSpPr>
        <p:spPr>
          <a:xfrm>
            <a:off x="2534245" y="2569573"/>
            <a:ext cx="47495" cy="1764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36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936" dirty="0"/>
          </a:p>
        </p:txBody>
      </p:sp>
      <p:sp>
        <p:nvSpPr>
          <p:cNvPr id="34" name="Text 31"/>
          <p:cNvSpPr/>
          <p:nvPr/>
        </p:nvSpPr>
        <p:spPr>
          <a:xfrm>
            <a:off x="2534245" y="2831743"/>
            <a:ext cx="47495" cy="1764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36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936" dirty="0"/>
          </a:p>
        </p:txBody>
      </p:sp>
      <p:sp>
        <p:nvSpPr>
          <p:cNvPr id="35" name="Text 32"/>
          <p:cNvSpPr/>
          <p:nvPr/>
        </p:nvSpPr>
        <p:spPr>
          <a:xfrm>
            <a:off x="2534245" y="3093913"/>
            <a:ext cx="47495" cy="1764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36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936" dirty="0"/>
          </a:p>
        </p:txBody>
      </p:sp>
      <p:sp>
        <p:nvSpPr>
          <p:cNvPr id="36" name="Text 33"/>
          <p:cNvSpPr/>
          <p:nvPr/>
        </p:nvSpPr>
        <p:spPr>
          <a:xfrm>
            <a:off x="2534245" y="3356084"/>
            <a:ext cx="47495" cy="1764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36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936" dirty="0"/>
          </a:p>
        </p:txBody>
      </p:sp>
      <p:sp>
        <p:nvSpPr>
          <p:cNvPr id="37" name="Text 34"/>
          <p:cNvSpPr/>
          <p:nvPr/>
        </p:nvSpPr>
        <p:spPr>
          <a:xfrm>
            <a:off x="2534245" y="3618254"/>
            <a:ext cx="47495" cy="1764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36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936" dirty="0"/>
          </a:p>
        </p:txBody>
      </p:sp>
      <p:sp>
        <p:nvSpPr>
          <p:cNvPr id="38" name="Text 35"/>
          <p:cNvSpPr/>
          <p:nvPr/>
        </p:nvSpPr>
        <p:spPr>
          <a:xfrm>
            <a:off x="2534245" y="3880424"/>
            <a:ext cx="47495" cy="1764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36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936" dirty="0"/>
          </a:p>
        </p:txBody>
      </p:sp>
      <p:sp>
        <p:nvSpPr>
          <p:cNvPr id="39" name="Shape 36"/>
          <p:cNvSpPr/>
          <p:nvPr/>
        </p:nvSpPr>
        <p:spPr>
          <a:xfrm>
            <a:off x="4625578" y="2137377"/>
            <a:ext cx="2091333" cy="32504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Text 37"/>
          <p:cNvSpPr/>
          <p:nvPr/>
        </p:nvSpPr>
        <p:spPr>
          <a:xfrm>
            <a:off x="4625578" y="2137377"/>
            <a:ext cx="2091333" cy="325041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ENVOLVIDOS</a:t>
            </a:r>
            <a:endParaRPr lang="en-US" sz="1090" dirty="0"/>
          </a:p>
        </p:txBody>
      </p:sp>
      <p:sp>
        <p:nvSpPr>
          <p:cNvPr id="41" name="Text 38"/>
          <p:cNvSpPr/>
          <p:nvPr/>
        </p:nvSpPr>
        <p:spPr>
          <a:xfrm>
            <a:off x="4732734" y="2569573"/>
            <a:ext cx="1877020" cy="176445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36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Motoristas</a:t>
            </a:r>
            <a:endParaRPr lang="en-US" sz="936" dirty="0"/>
          </a:p>
        </p:txBody>
      </p:sp>
      <p:sp>
        <p:nvSpPr>
          <p:cNvPr id="42" name="Text 39"/>
          <p:cNvSpPr/>
          <p:nvPr/>
        </p:nvSpPr>
        <p:spPr>
          <a:xfrm>
            <a:off x="4732734" y="2831743"/>
            <a:ext cx="1877020" cy="176445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36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Empresas / Redes</a:t>
            </a:r>
            <a:endParaRPr lang="en-US" sz="936" dirty="0"/>
          </a:p>
        </p:txBody>
      </p:sp>
      <p:sp>
        <p:nvSpPr>
          <p:cNvPr id="43" name="Text 40"/>
          <p:cNvSpPr/>
          <p:nvPr/>
        </p:nvSpPr>
        <p:spPr>
          <a:xfrm>
            <a:off x="4732734" y="3093913"/>
            <a:ext cx="1877020" cy="176445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36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Prefeituras</a:t>
            </a:r>
            <a:endParaRPr lang="en-US" sz="936" dirty="0"/>
          </a:p>
        </p:txBody>
      </p:sp>
      <p:sp>
        <p:nvSpPr>
          <p:cNvPr id="44" name="Text 41"/>
          <p:cNvSpPr/>
          <p:nvPr/>
        </p:nvSpPr>
        <p:spPr>
          <a:xfrm>
            <a:off x="4732734" y="3356084"/>
            <a:ext cx="1877020" cy="176445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36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Gestores</a:t>
            </a:r>
            <a:endParaRPr lang="en-US" sz="936" dirty="0"/>
          </a:p>
        </p:txBody>
      </p:sp>
      <p:sp>
        <p:nvSpPr>
          <p:cNvPr id="45" name="Text 42"/>
          <p:cNvSpPr/>
          <p:nvPr/>
        </p:nvSpPr>
        <p:spPr>
          <a:xfrm>
            <a:off x="4732734" y="3618254"/>
            <a:ext cx="1877020" cy="176445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36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Investidores</a:t>
            </a:r>
            <a:endParaRPr lang="en-US" sz="936" dirty="0"/>
          </a:p>
        </p:txBody>
      </p:sp>
      <p:sp>
        <p:nvSpPr>
          <p:cNvPr id="46" name="Text 43"/>
          <p:cNvSpPr/>
          <p:nvPr/>
        </p:nvSpPr>
        <p:spPr>
          <a:xfrm>
            <a:off x="4732734" y="3880424"/>
            <a:ext cx="1877020" cy="176445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36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Desenvolvedores</a:t>
            </a:r>
            <a:endParaRPr lang="en-US" sz="936" dirty="0"/>
          </a:p>
        </p:txBody>
      </p:sp>
      <p:sp>
        <p:nvSpPr>
          <p:cNvPr id="47" name="Shape 44"/>
          <p:cNvSpPr/>
          <p:nvPr/>
        </p:nvSpPr>
        <p:spPr>
          <a:xfrm>
            <a:off x="6824067" y="2137377"/>
            <a:ext cx="2091333" cy="2647150"/>
          </a:xfrm>
          <a:prstGeom prst="rect">
            <a:avLst/>
          </a:prstGeom>
          <a:solidFill>
            <a:srgbClr val="F8FAFC"/>
          </a:solidFill>
          <a:ln w="18288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8" name="Text 45"/>
          <p:cNvSpPr/>
          <p:nvPr/>
        </p:nvSpPr>
        <p:spPr>
          <a:xfrm>
            <a:off x="4732734" y="2569573"/>
            <a:ext cx="47495" cy="1764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36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936" dirty="0"/>
          </a:p>
        </p:txBody>
      </p:sp>
      <p:sp>
        <p:nvSpPr>
          <p:cNvPr id="49" name="Text 46"/>
          <p:cNvSpPr/>
          <p:nvPr/>
        </p:nvSpPr>
        <p:spPr>
          <a:xfrm>
            <a:off x="4732734" y="2831743"/>
            <a:ext cx="47495" cy="1764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36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936" dirty="0"/>
          </a:p>
        </p:txBody>
      </p:sp>
      <p:sp>
        <p:nvSpPr>
          <p:cNvPr id="50" name="Text 47"/>
          <p:cNvSpPr/>
          <p:nvPr/>
        </p:nvSpPr>
        <p:spPr>
          <a:xfrm>
            <a:off x="4732734" y="3093913"/>
            <a:ext cx="47495" cy="1764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36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936" dirty="0"/>
          </a:p>
        </p:txBody>
      </p:sp>
      <p:sp>
        <p:nvSpPr>
          <p:cNvPr id="51" name="Text 48"/>
          <p:cNvSpPr/>
          <p:nvPr/>
        </p:nvSpPr>
        <p:spPr>
          <a:xfrm>
            <a:off x="4732734" y="3356084"/>
            <a:ext cx="47495" cy="1764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36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936" dirty="0"/>
          </a:p>
        </p:txBody>
      </p:sp>
      <p:sp>
        <p:nvSpPr>
          <p:cNvPr id="52" name="Text 49"/>
          <p:cNvSpPr/>
          <p:nvPr/>
        </p:nvSpPr>
        <p:spPr>
          <a:xfrm>
            <a:off x="4732734" y="3618254"/>
            <a:ext cx="47495" cy="1764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36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936" dirty="0"/>
          </a:p>
        </p:txBody>
      </p:sp>
      <p:sp>
        <p:nvSpPr>
          <p:cNvPr id="53" name="Text 50"/>
          <p:cNvSpPr/>
          <p:nvPr/>
        </p:nvSpPr>
        <p:spPr>
          <a:xfrm>
            <a:off x="4732734" y="3880424"/>
            <a:ext cx="47495" cy="1764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36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936" dirty="0"/>
          </a:p>
        </p:txBody>
      </p:sp>
      <p:sp>
        <p:nvSpPr>
          <p:cNvPr id="54" name="Shape 51"/>
          <p:cNvSpPr/>
          <p:nvPr/>
        </p:nvSpPr>
        <p:spPr>
          <a:xfrm>
            <a:off x="6824067" y="2137377"/>
            <a:ext cx="2091333" cy="32504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5" name="Text 52"/>
          <p:cNvSpPr/>
          <p:nvPr/>
        </p:nvSpPr>
        <p:spPr>
          <a:xfrm>
            <a:off x="6824067" y="2137377"/>
            <a:ext cx="2091333" cy="325041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</a:t>
            </a:r>
            <a:endParaRPr lang="en-US" sz="1090" dirty="0"/>
          </a:p>
        </p:txBody>
      </p:sp>
      <p:sp>
        <p:nvSpPr>
          <p:cNvPr id="56" name="Text 53"/>
          <p:cNvSpPr/>
          <p:nvPr/>
        </p:nvSpPr>
        <p:spPr>
          <a:xfrm>
            <a:off x="6931223" y="2569573"/>
            <a:ext cx="1877020" cy="176445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36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Reduzir tempo de busca</a:t>
            </a:r>
            <a:endParaRPr lang="en-US" sz="936" dirty="0"/>
          </a:p>
        </p:txBody>
      </p:sp>
      <p:sp>
        <p:nvSpPr>
          <p:cNvPr id="57" name="Text 54"/>
          <p:cNvSpPr/>
          <p:nvPr/>
        </p:nvSpPr>
        <p:spPr>
          <a:xfrm>
            <a:off x="6931223" y="2831743"/>
            <a:ext cx="1877020" cy="176445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36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Diminuir congestionamento</a:t>
            </a:r>
            <a:endParaRPr lang="en-US" sz="936" dirty="0"/>
          </a:p>
        </p:txBody>
      </p:sp>
      <p:sp>
        <p:nvSpPr>
          <p:cNvPr id="58" name="Text 55"/>
          <p:cNvSpPr/>
          <p:nvPr/>
        </p:nvSpPr>
        <p:spPr>
          <a:xfrm>
            <a:off x="6931223" y="3093913"/>
            <a:ext cx="1877020" cy="176445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36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Eficiência de vagas</a:t>
            </a:r>
            <a:endParaRPr lang="en-US" sz="936" dirty="0"/>
          </a:p>
        </p:txBody>
      </p:sp>
      <p:sp>
        <p:nvSpPr>
          <p:cNvPr id="59" name="Text 56"/>
          <p:cNvSpPr/>
          <p:nvPr/>
        </p:nvSpPr>
        <p:spPr>
          <a:xfrm>
            <a:off x="6931223" y="3356084"/>
            <a:ext cx="1877020" cy="176445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36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Baixo custo / Escalável</a:t>
            </a:r>
            <a:endParaRPr lang="en-US" sz="936" dirty="0"/>
          </a:p>
        </p:txBody>
      </p:sp>
      <p:sp>
        <p:nvSpPr>
          <p:cNvPr id="60" name="Text 57"/>
          <p:cNvSpPr/>
          <p:nvPr/>
        </p:nvSpPr>
        <p:spPr>
          <a:xfrm>
            <a:off x="6931223" y="3618254"/>
            <a:ext cx="1877020" cy="176445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36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inteligentes</a:t>
            </a:r>
            <a:endParaRPr lang="en-US" sz="936" dirty="0"/>
          </a:p>
        </p:txBody>
      </p:sp>
      <p:sp>
        <p:nvSpPr>
          <p:cNvPr id="61" name="Text 58"/>
          <p:cNvSpPr/>
          <p:nvPr/>
        </p:nvSpPr>
        <p:spPr>
          <a:xfrm>
            <a:off x="6931223" y="3880424"/>
            <a:ext cx="1877020" cy="176445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36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infra complexa</a:t>
            </a:r>
            <a:endParaRPr lang="en-US" sz="936" dirty="0"/>
          </a:p>
        </p:txBody>
      </p:sp>
      <p:sp>
        <p:nvSpPr>
          <p:cNvPr id="62" name="Text 59"/>
          <p:cNvSpPr/>
          <p:nvPr/>
        </p:nvSpPr>
        <p:spPr>
          <a:xfrm>
            <a:off x="228600" y="4855964"/>
            <a:ext cx="868680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FLM01. PRISMA DE DESAFIO</a:t>
            </a:r>
            <a:endParaRPr lang="en-US" sz="683" dirty="0"/>
          </a:p>
        </p:txBody>
      </p:sp>
      <p:sp>
        <p:nvSpPr>
          <p:cNvPr id="63" name="Text 60"/>
          <p:cNvSpPr/>
          <p:nvPr/>
        </p:nvSpPr>
        <p:spPr>
          <a:xfrm>
            <a:off x="6931223" y="2569573"/>
            <a:ext cx="47495" cy="1764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36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936" dirty="0"/>
          </a:p>
        </p:txBody>
      </p:sp>
      <p:sp>
        <p:nvSpPr>
          <p:cNvPr id="64" name="Text 61"/>
          <p:cNvSpPr/>
          <p:nvPr/>
        </p:nvSpPr>
        <p:spPr>
          <a:xfrm>
            <a:off x="6931223" y="2831743"/>
            <a:ext cx="47495" cy="1764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36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936" dirty="0"/>
          </a:p>
        </p:txBody>
      </p:sp>
      <p:sp>
        <p:nvSpPr>
          <p:cNvPr id="65" name="Text 62"/>
          <p:cNvSpPr/>
          <p:nvPr/>
        </p:nvSpPr>
        <p:spPr>
          <a:xfrm>
            <a:off x="6931223" y="3093913"/>
            <a:ext cx="47495" cy="1764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36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936" dirty="0"/>
          </a:p>
        </p:txBody>
      </p:sp>
      <p:sp>
        <p:nvSpPr>
          <p:cNvPr id="66" name="Text 63"/>
          <p:cNvSpPr/>
          <p:nvPr/>
        </p:nvSpPr>
        <p:spPr>
          <a:xfrm>
            <a:off x="6931223" y="3356084"/>
            <a:ext cx="47495" cy="1764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36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936" dirty="0"/>
          </a:p>
        </p:txBody>
      </p:sp>
      <p:sp>
        <p:nvSpPr>
          <p:cNvPr id="67" name="Text 64"/>
          <p:cNvSpPr/>
          <p:nvPr/>
        </p:nvSpPr>
        <p:spPr>
          <a:xfrm>
            <a:off x="6931223" y="3618254"/>
            <a:ext cx="47495" cy="1764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36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936" dirty="0"/>
          </a:p>
        </p:txBody>
      </p:sp>
      <p:sp>
        <p:nvSpPr>
          <p:cNvPr id="68" name="Text 65"/>
          <p:cNvSpPr/>
          <p:nvPr/>
        </p:nvSpPr>
        <p:spPr>
          <a:xfrm>
            <a:off x="6931223" y="3880424"/>
            <a:ext cx="47495" cy="1764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36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936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28600" y="285750"/>
            <a:ext cx="8686800" cy="510778"/>
          </a:xfrm>
          <a:prstGeom prst="rect">
            <a:avLst/>
          </a:prstGeom>
          <a:solidFill>
            <a:srgbClr val="000000">
              <a:alpha val="0"/>
            </a:srgbClr>
          </a:solidFill>
          <a:ln w="18288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228600" y="285750"/>
            <a:ext cx="8686800" cy="51077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8" b="1" kern="0" spc="2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DE INFLUENCIADORES</a:t>
            </a:r>
            <a:endParaRPr lang="en-US" sz="1808" dirty="0"/>
          </a:p>
        </p:txBody>
      </p:sp>
      <p:sp>
        <p:nvSpPr>
          <p:cNvPr id="5" name="Shape 2"/>
          <p:cNvSpPr/>
          <p:nvPr/>
        </p:nvSpPr>
        <p:spPr>
          <a:xfrm>
            <a:off x="642938" y="2797671"/>
            <a:ext cx="7858125" cy="1428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642938" y="2511921"/>
            <a:ext cx="1371851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influenciadores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3143250" y="2476202"/>
            <a:ext cx="150186" cy="2964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808" dirty="0"/>
          </a:p>
        </p:txBody>
      </p:sp>
      <p:sp>
        <p:nvSpPr>
          <p:cNvPr id="8" name="Text 5"/>
          <p:cNvSpPr/>
          <p:nvPr/>
        </p:nvSpPr>
        <p:spPr>
          <a:xfrm>
            <a:off x="3643313" y="2476202"/>
            <a:ext cx="300372" cy="2964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++</a:t>
            </a:r>
            <a:endParaRPr lang="en-US" sz="1808" dirty="0"/>
          </a:p>
        </p:txBody>
      </p:sp>
      <p:sp>
        <p:nvSpPr>
          <p:cNvPr id="9" name="Text 6"/>
          <p:cNvSpPr/>
          <p:nvPr/>
        </p:nvSpPr>
        <p:spPr>
          <a:xfrm>
            <a:off x="5200315" y="2476202"/>
            <a:ext cx="300372" cy="2964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++</a:t>
            </a:r>
            <a:endParaRPr lang="en-US" sz="1808" dirty="0"/>
          </a:p>
        </p:txBody>
      </p:sp>
      <p:sp>
        <p:nvSpPr>
          <p:cNvPr id="10" name="Text 7"/>
          <p:cNvSpPr/>
          <p:nvPr/>
        </p:nvSpPr>
        <p:spPr>
          <a:xfrm>
            <a:off x="5850564" y="2476202"/>
            <a:ext cx="150186" cy="2964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808" dirty="0"/>
          </a:p>
        </p:txBody>
      </p:sp>
      <p:sp>
        <p:nvSpPr>
          <p:cNvPr id="11" name="Text 8"/>
          <p:cNvSpPr/>
          <p:nvPr/>
        </p:nvSpPr>
        <p:spPr>
          <a:xfrm>
            <a:off x="7129211" y="2511921"/>
            <a:ext cx="1371851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influenciadores</a:t>
            </a:r>
            <a:endParaRPr lang="en-US" sz="1193" dirty="0"/>
          </a:p>
        </p:txBody>
      </p:sp>
      <p:sp>
        <p:nvSpPr>
          <p:cNvPr id="12" name="Shape 9"/>
          <p:cNvSpPr/>
          <p:nvPr/>
        </p:nvSpPr>
        <p:spPr>
          <a:xfrm>
            <a:off x="3500438" y="1793260"/>
            <a:ext cx="2143125" cy="2143125"/>
          </a:xfrm>
          <a:prstGeom prst="ellipse">
            <a:avLst/>
          </a:prstGeom>
          <a:solidFill>
            <a:srgbClr val="C5C5A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4063957" y="2605862"/>
            <a:ext cx="1016087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DESAFIO</a:t>
            </a:r>
            <a:endParaRPr lang="en-US" sz="1602" dirty="0"/>
          </a:p>
        </p:txBody>
      </p:sp>
      <p:sp>
        <p:nvSpPr>
          <p:cNvPr id="14" name="Text 11"/>
          <p:cNvSpPr/>
          <p:nvPr/>
        </p:nvSpPr>
        <p:spPr>
          <a:xfrm>
            <a:off x="4286278" y="2970193"/>
            <a:ext cx="57144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ZEROFILA</a:t>
            </a:r>
            <a:endParaRPr lang="en-US" sz="784" dirty="0"/>
          </a:p>
        </p:txBody>
      </p:sp>
      <p:sp>
        <p:nvSpPr>
          <p:cNvPr id="15" name="Shape 12"/>
          <p:cNvSpPr/>
          <p:nvPr/>
        </p:nvSpPr>
        <p:spPr>
          <a:xfrm>
            <a:off x="3699876" y="2256580"/>
            <a:ext cx="2000390" cy="289322"/>
          </a:xfrm>
          <a:prstGeom prst="rect">
            <a:avLst/>
          </a:prstGeom>
          <a:solidFill>
            <a:srgbClr val="FFFFFF">
              <a:alpha val="90000"/>
            </a:srgbClr>
          </a:solidFill>
          <a:ln w="18288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3775025" y="2269604"/>
            <a:ext cx="2000390" cy="289322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Empresas (Shoppings/Cond.)</a:t>
            </a:r>
            <a:endParaRPr lang="en-US" sz="885" dirty="0"/>
          </a:p>
        </p:txBody>
      </p:sp>
      <p:sp>
        <p:nvSpPr>
          <p:cNvPr id="17" name="Shape 14"/>
          <p:cNvSpPr/>
          <p:nvPr/>
        </p:nvSpPr>
        <p:spPr>
          <a:xfrm>
            <a:off x="3699876" y="2923580"/>
            <a:ext cx="2000836" cy="289322"/>
          </a:xfrm>
          <a:prstGeom prst="rect">
            <a:avLst/>
          </a:prstGeom>
          <a:solidFill>
            <a:srgbClr val="FFFFFF">
              <a:alpha val="90000"/>
            </a:srgbClr>
          </a:solidFill>
          <a:ln w="18288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3699876" y="2923580"/>
            <a:ext cx="2000836" cy="289322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Prefeituras / Órgãos Públicos</a:t>
            </a:r>
            <a:endParaRPr lang="en-US" sz="885" dirty="0"/>
          </a:p>
        </p:txBody>
      </p:sp>
      <p:sp>
        <p:nvSpPr>
          <p:cNvPr id="19" name="Shape 16"/>
          <p:cNvSpPr/>
          <p:nvPr/>
        </p:nvSpPr>
        <p:spPr>
          <a:xfrm>
            <a:off x="5814706" y="1896666"/>
            <a:ext cx="957569" cy="289322"/>
          </a:xfrm>
          <a:prstGeom prst="rect">
            <a:avLst/>
          </a:prstGeom>
          <a:solidFill>
            <a:srgbClr val="FFFFFF">
              <a:alpha val="90000"/>
            </a:srgbClr>
          </a:solidFill>
          <a:ln w="18288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/>
          <p:nvPr/>
        </p:nvSpPr>
        <p:spPr>
          <a:xfrm>
            <a:off x="5814706" y="1896666"/>
            <a:ext cx="957569" cy="289322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Investidores</a:t>
            </a:r>
            <a:endParaRPr lang="en-US" sz="885" dirty="0"/>
          </a:p>
        </p:txBody>
      </p:sp>
      <p:sp>
        <p:nvSpPr>
          <p:cNvPr id="21" name="Shape 18"/>
          <p:cNvSpPr/>
          <p:nvPr/>
        </p:nvSpPr>
        <p:spPr>
          <a:xfrm>
            <a:off x="4914286" y="3423642"/>
            <a:ext cx="1857989" cy="289322"/>
          </a:xfrm>
          <a:prstGeom prst="rect">
            <a:avLst/>
          </a:prstGeom>
          <a:solidFill>
            <a:srgbClr val="FFFFFF">
              <a:alpha val="90000"/>
            </a:srgbClr>
          </a:solidFill>
          <a:ln w="18288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4914286" y="3423642"/>
            <a:ext cx="1857989" cy="289322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Fornecedores de Hardware</a:t>
            </a:r>
            <a:endParaRPr lang="en-US" sz="885" dirty="0"/>
          </a:p>
        </p:txBody>
      </p:sp>
      <p:sp>
        <p:nvSpPr>
          <p:cNvPr id="23" name="Shape 20"/>
          <p:cNvSpPr/>
          <p:nvPr/>
        </p:nvSpPr>
        <p:spPr>
          <a:xfrm>
            <a:off x="2568388" y="1881753"/>
            <a:ext cx="1521814" cy="289322"/>
          </a:xfrm>
          <a:prstGeom prst="rect">
            <a:avLst/>
          </a:prstGeom>
          <a:solidFill>
            <a:srgbClr val="FFFFFF">
              <a:alpha val="90000"/>
            </a:srgbClr>
          </a:solidFill>
          <a:ln w="18288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1"/>
          <p:cNvSpPr/>
          <p:nvPr/>
        </p:nvSpPr>
        <p:spPr>
          <a:xfrm>
            <a:off x="2596963" y="1895498"/>
            <a:ext cx="1521814" cy="289322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Motoristas (Usuários)</a:t>
            </a:r>
            <a:endParaRPr lang="en-US" sz="885" dirty="0"/>
          </a:p>
        </p:txBody>
      </p:sp>
      <p:sp>
        <p:nvSpPr>
          <p:cNvPr id="25" name="Shape 22"/>
          <p:cNvSpPr/>
          <p:nvPr/>
        </p:nvSpPr>
        <p:spPr>
          <a:xfrm>
            <a:off x="2519157" y="3265587"/>
            <a:ext cx="1914106" cy="289322"/>
          </a:xfrm>
          <a:prstGeom prst="rect">
            <a:avLst/>
          </a:prstGeom>
          <a:solidFill>
            <a:srgbClr val="FFFFFF">
              <a:alpha val="90000"/>
            </a:srgbClr>
          </a:solidFill>
          <a:ln w="18288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3"/>
          <p:cNvSpPr/>
          <p:nvPr/>
        </p:nvSpPr>
        <p:spPr>
          <a:xfrm>
            <a:off x="2596963" y="3270066"/>
            <a:ext cx="1914106" cy="289322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Gestores de Estacionamento</a:t>
            </a:r>
            <a:endParaRPr lang="en-US" sz="885" dirty="0"/>
          </a:p>
        </p:txBody>
      </p:sp>
      <p:sp>
        <p:nvSpPr>
          <p:cNvPr id="27" name="Shape 24"/>
          <p:cNvSpPr/>
          <p:nvPr/>
        </p:nvSpPr>
        <p:spPr>
          <a:xfrm>
            <a:off x="1657350" y="1396603"/>
            <a:ext cx="1484086" cy="258961"/>
          </a:xfrm>
          <a:prstGeom prst="rect">
            <a:avLst/>
          </a:prstGeom>
          <a:solidFill>
            <a:srgbClr val="FFFFFF">
              <a:alpha val="63000"/>
            </a:srgbClr>
          </a:solidFill>
          <a:ln w="18288">
            <a:solidFill>
              <a:srgbClr val="334155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5"/>
          <p:cNvSpPr/>
          <p:nvPr/>
        </p:nvSpPr>
        <p:spPr>
          <a:xfrm>
            <a:off x="1693417" y="1409723"/>
            <a:ext cx="1484086" cy="258961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E293B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Desenvolvedores Externos</a:t>
            </a:r>
            <a:endParaRPr lang="en-US" sz="683" dirty="0"/>
          </a:p>
        </p:txBody>
      </p:sp>
      <p:sp>
        <p:nvSpPr>
          <p:cNvPr id="29" name="Shape 26"/>
          <p:cNvSpPr/>
          <p:nvPr/>
        </p:nvSpPr>
        <p:spPr>
          <a:xfrm>
            <a:off x="1657350" y="3954066"/>
            <a:ext cx="1556221" cy="258961"/>
          </a:xfrm>
          <a:prstGeom prst="rect">
            <a:avLst/>
          </a:prstGeom>
          <a:solidFill>
            <a:srgbClr val="FFFFFF">
              <a:alpha val="63000"/>
            </a:srgbClr>
          </a:solidFill>
          <a:ln w="18288">
            <a:solidFill>
              <a:srgbClr val="334155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7"/>
          <p:cNvSpPr/>
          <p:nvPr/>
        </p:nvSpPr>
        <p:spPr>
          <a:xfrm>
            <a:off x="1657350" y="3954066"/>
            <a:ext cx="1556221" cy="258961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E293B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Pequenos Estabelecimentos</a:t>
            </a:r>
            <a:endParaRPr lang="en-US" sz="683" dirty="0"/>
          </a:p>
        </p:txBody>
      </p:sp>
      <p:sp>
        <p:nvSpPr>
          <p:cNvPr id="31" name="Shape 28"/>
          <p:cNvSpPr/>
          <p:nvPr/>
        </p:nvSpPr>
        <p:spPr>
          <a:xfrm>
            <a:off x="6100763" y="3814763"/>
            <a:ext cx="2757488" cy="900113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Shape 29"/>
          <p:cNvSpPr/>
          <p:nvPr/>
        </p:nvSpPr>
        <p:spPr>
          <a:xfrm>
            <a:off x="6100763" y="3814763"/>
            <a:ext cx="42863" cy="900113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30"/>
          <p:cNvSpPr/>
          <p:nvPr/>
        </p:nvSpPr>
        <p:spPr>
          <a:xfrm>
            <a:off x="6250781" y="3923705"/>
            <a:ext cx="135044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ESTRATÉGICO:</a:t>
            </a:r>
            <a:endParaRPr lang="en-US" sz="784" dirty="0"/>
          </a:p>
        </p:txBody>
      </p:sp>
      <p:sp>
        <p:nvSpPr>
          <p:cNvPr id="34" name="Text 31"/>
          <p:cNvSpPr/>
          <p:nvPr/>
        </p:nvSpPr>
        <p:spPr>
          <a:xfrm>
            <a:off x="6250781" y="4055864"/>
            <a:ext cx="223917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 sucesso depende menos da tecnologia e</a:t>
            </a:r>
            <a:endParaRPr lang="en-US" sz="834" dirty="0"/>
          </a:p>
        </p:txBody>
      </p:sp>
      <p:sp>
        <p:nvSpPr>
          <p:cNvPr id="35" name="Text 32"/>
          <p:cNvSpPr/>
          <p:nvPr/>
        </p:nvSpPr>
        <p:spPr>
          <a:xfrm>
            <a:off x="6250781" y="4188023"/>
            <a:ext cx="173693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da orquestração dos atores."</a:t>
            </a:r>
            <a:endParaRPr lang="en-US" sz="834" dirty="0"/>
          </a:p>
        </p:txBody>
      </p:sp>
      <p:sp>
        <p:nvSpPr>
          <p:cNvPr id="36" name="Text 33"/>
          <p:cNvSpPr/>
          <p:nvPr/>
        </p:nvSpPr>
        <p:spPr>
          <a:xfrm>
            <a:off x="6250781" y="4375547"/>
            <a:ext cx="2500313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Usuário: Motorista
• Cliente: Empresa / Prefeitura</a:t>
            </a:r>
            <a:endParaRPr lang="en-US" sz="727" dirty="0"/>
          </a:p>
        </p:txBody>
      </p:sp>
      <p:sp>
        <p:nvSpPr>
          <p:cNvPr id="37" name="Text 34"/>
          <p:cNvSpPr/>
          <p:nvPr/>
        </p:nvSpPr>
        <p:spPr>
          <a:xfrm>
            <a:off x="228600" y="4855964"/>
            <a:ext cx="868680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FA01. MAPA DE INFLUENCIADORES</a:t>
            </a:r>
            <a:endParaRPr lang="en-US" sz="68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191</Words>
  <Application>Microsoft Office PowerPoint</Application>
  <PresentationFormat>On-screen Show (16:9)</PresentationFormat>
  <Paragraphs>80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4" baseType="lpstr">
      <vt:lpstr>Arial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Nathan Anaquim Procaccia</cp:lastModifiedBy>
  <cp:revision>2</cp:revision>
  <dcterms:created xsi:type="dcterms:W3CDTF">2026-04-17T23:22:50Z</dcterms:created>
  <dcterms:modified xsi:type="dcterms:W3CDTF">2026-04-17T23:27:35Z</dcterms:modified>
</cp:coreProperties>
</file>